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23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320040"/>
            <a:ext cx="2377440" cy="329184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32004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IFPE  •  ADS  • 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777240"/>
            <a:ext cx="6217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SOLUÇÃO PARA IMPLANTAÇÃO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ACOMPANHAMENTO 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POLÍTICA DE SEGURANÇA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 INFORMAÇÃO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3108960"/>
            <a:ext cx="41148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57200" y="324612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Autor: </a:t>
            </a:r>
            <a:r>
              <a:rPr b="0" i="0" lang="en-US" sz="13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</a:t>
            </a:r>
            <a:br>
              <a:rPr b="0" i="0" lang="en-US" sz="13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Orientador: </a:t>
            </a:r>
            <a:r>
              <a:rPr b="0" i="0" lang="en-US" sz="13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Marco Antônio Eugênio Araújo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4251960"/>
            <a:ext cx="1920240" cy="27432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457200" y="42519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Segurança da Informação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514600" y="4251960"/>
            <a:ext cx="1920240" cy="27432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514600" y="42519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PPSI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572000" y="4251960"/>
            <a:ext cx="1920240" cy="27432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572000" y="42519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Maturidade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629400" y="4251960"/>
            <a:ext cx="1920240" cy="27432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629400" y="42519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Multi-tenant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3" title="ifpe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025" y="430525"/>
            <a:ext cx="1905000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2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05840" y="12344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Contexto e Problema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1783080"/>
            <a:ext cx="3931920" cy="4572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05840" y="17830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" y="2331720"/>
            <a:ext cx="3931920" cy="4572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005840" y="23317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Fundamentação Teórica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57200" y="2880360"/>
            <a:ext cx="3931920" cy="4572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05840" y="28803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Trabalhos Relacionados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3429000"/>
            <a:ext cx="3931920" cy="4572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005840" y="3429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Solução Proposta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846320" y="1234440"/>
            <a:ext cx="3931920" cy="4572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394960" y="12344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Arquitetura e Implementação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846320" y="1783080"/>
            <a:ext cx="3931920" cy="4572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846320" y="1783080"/>
            <a:ext cx="457200" cy="45720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84632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394960" y="17830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Demo — Sistema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846320" y="2331720"/>
            <a:ext cx="3931920" cy="4572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846320" y="2331720"/>
            <a:ext cx="45720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846320" y="2331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394960" y="23317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Prova de Conceito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846320" y="2880360"/>
            <a:ext cx="3931920" cy="4572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846320" y="2880360"/>
            <a:ext cx="45720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84632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394960" y="28803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846320" y="3429000"/>
            <a:ext cx="3931920" cy="4572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846320" y="3429000"/>
            <a:ext cx="457200" cy="457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846320" y="3429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394960" y="3429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Conclusão e Trabalhos Futuros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 e Problema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3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457200" y="1234440"/>
            <a:ext cx="3931920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457200" y="12344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94360" y="1664208"/>
            <a:ext cx="3657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 transformação digital ampliou a exposição das organizações a riscos de segurança:</a:t>
            </a: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Vazamentos de dados</a:t>
            </a: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Acessos não autorizados</a:t>
            </a: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Falhas operacionais</a:t>
            </a: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 PPSI é o instrumento formal para estabelecer diretrizes, responsabilidades e controles mínimos.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754880" y="1234440"/>
            <a:ext cx="3931920" cy="347472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754880" y="1234440"/>
            <a:ext cx="3931920" cy="34747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754880" y="12344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892040" y="1664208"/>
            <a:ext cx="3657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Na prática, a PPSI frequentemente:</a:t>
            </a: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Não possui acompanhamento contínuo</a:t>
            </a: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É tratada apenas como documento de auditoria</a:t>
            </a: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Carece de mecanismos para medir maturidade</a:t>
            </a: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Não converte lacunas em planos de ação priorizados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4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57200" y="1234440"/>
            <a:ext cx="109728" cy="9144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85800" y="126187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Objetivo Geral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85800" y="1536192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Desenvolver uma solução tecnológica para implantação e acompanhamento contínuo da PPSI, com foco em rastreabilidade, mensuração de maturidade e apoio à melhoria contínua.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7200" y="2697480"/>
            <a:ext cx="2651760" cy="80467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2871216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1051560" y="278892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Estruturar o processo de avaliação da PPSI em ciclos com estados controlados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291840" y="2697480"/>
            <a:ext cx="2651760" cy="80467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1568" y="2871216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3886200" y="278892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Implementar diagnóstico por medidas com respostas padronizadas e justificativas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126480" y="2697480"/>
            <a:ext cx="2651760" cy="80467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6208" y="2871216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6720840" y="278892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Calcular indicadores globais e por domínio com classificação de maturidade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7200" y="3721608"/>
            <a:ext cx="2651760" cy="80467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928" y="3895344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1051560" y="3813048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Automatizar a geração de planos de ação a partir de lacunas identificadas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291840" y="3721608"/>
            <a:ext cx="2651760" cy="80467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1568" y="3895344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3886200" y="3813048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Validar o fluxo completo em prova de conceito no sistema implementado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Fundamentação Teórica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5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57200" y="1234440"/>
            <a:ext cx="2651760" cy="162763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17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1051560" y="13716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Segurança da Informação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94360" y="1920240"/>
            <a:ext cx="237744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94360" y="201168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Confidencialidade, Integridade e Disponibilidade. Controles técnicos, processos e governança.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291840" y="1234440"/>
            <a:ext cx="2651760" cy="162763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1417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3886200" y="13716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Política de SI (PPSI)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429000" y="1920240"/>
            <a:ext cx="237744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3429000" y="201168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Instrumento operacional: orienta comportamentos, conformidade e decisões de risco. Ciclo contínuo.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126480" y="1234440"/>
            <a:ext cx="2651760" cy="162763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1417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6720840" y="13716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PPSI Governamental (SGD/MGI)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263640" y="1920240"/>
            <a:ext cx="237744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263640" y="201168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Portaria SGD/MGI nº 852/2023. Framework para órgãos do SISP alinhado à LGPD.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3017520"/>
            <a:ext cx="2651760" cy="162763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360" y="32004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1051560" y="315468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Modelos de Maturidade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94360" y="3703320"/>
            <a:ext cx="237744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594360" y="379476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CMMI, SSE-CMM e C2M2: progressão por estágios, critérios observáveis, institucionalização.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291840" y="3017520"/>
            <a:ext cx="2651760" cy="162763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9000" y="32004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3886200" y="315468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Escala Adotada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429000" y="3703320"/>
            <a:ext cx="237744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3429000" y="379476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INITIAL → BASIC → INTERMEDIATE → IMPROVING → ADVANCED. Score normalizado 0–1 por média ponderada.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126480" y="3017520"/>
            <a:ext cx="2651760" cy="162763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63640" y="32004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6720840" y="315468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Digitalização da Governança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263640" y="3703320"/>
            <a:ext cx="237744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263640" y="379476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Superação de planilhas: padronização, rastreabilidade histórica e cálculo automatizado de indicadores.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Trabalhos Relacionados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Posicionamento da proposta frente à literatura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6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57200" y="1234440"/>
            <a:ext cx="2377440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457200" y="12344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Abordagem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926080" y="1234440"/>
            <a:ext cx="1463040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2926080" y="123444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Diagnóstico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480560" y="1234440"/>
            <a:ext cx="1463040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4480560" y="123444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035040" y="1234440"/>
            <a:ext cx="1463040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035040" y="123444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Indicadores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589520" y="1234440"/>
            <a:ext cx="1097280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7589520" y="123444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Plano de 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57200" y="1581912"/>
            <a:ext cx="2377440" cy="62179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502920" y="1581912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Ferramentas para SMEs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(literatura)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926080" y="1581912"/>
            <a:ext cx="1463040" cy="62179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2926080" y="1581912"/>
            <a:ext cx="1463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Parcial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480560" y="1581912"/>
            <a:ext cx="1463040" cy="62179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480560" y="1581912"/>
            <a:ext cx="1463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Ausente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035040" y="1581912"/>
            <a:ext cx="1463040" cy="62179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035040" y="1581912"/>
            <a:ext cx="1463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Parcial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7589520" y="1581912"/>
            <a:ext cx="1097280" cy="62179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7589520" y="1581912"/>
            <a:ext cx="1097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Ausente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57200" y="2240280"/>
            <a:ext cx="2377440" cy="621792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502920" y="2240280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Frameworks Normativos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(ISO/NIST/CIS)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926080" y="2240280"/>
            <a:ext cx="1463040" cy="621792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2926080" y="2240280"/>
            <a:ext cx="1463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Conceitual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480560" y="2240280"/>
            <a:ext cx="1463040" cy="621792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480560" y="2240280"/>
            <a:ext cx="1463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Conceitual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035040" y="2240280"/>
            <a:ext cx="1463040" cy="621792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6035040" y="2240280"/>
            <a:ext cx="1463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Depend.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589520" y="2240280"/>
            <a:ext cx="1097280" cy="621792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7589520" y="2240280"/>
            <a:ext cx="1097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Depend.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57200" y="2898648"/>
            <a:ext cx="2377440" cy="621792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502920" y="2898648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 PPSI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WorkControl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2926080" y="2898648"/>
            <a:ext cx="1463040" cy="621792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2926080" y="2898648"/>
            <a:ext cx="1463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✓ Sim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480560" y="2898648"/>
            <a:ext cx="1463040" cy="621792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480560" y="2898648"/>
            <a:ext cx="1463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✓ Sim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035040" y="2898648"/>
            <a:ext cx="1463040" cy="621792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035040" y="2898648"/>
            <a:ext cx="1463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✓ Sim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589520" y="2898648"/>
            <a:ext cx="1097280" cy="621792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7589520" y="2898648"/>
            <a:ext cx="1097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✓ Sim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Diferencial: integração ponta a ponta com isolamento multi-tenant por workspace — aspecto pouco explorado nos trabalhos revisados.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Solução Proposta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Módulo PPSI no WorkControl — 7 etapas do fluxo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7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20040" y="1463040"/>
            <a:ext cx="1078992" cy="13716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658368" y="1536192"/>
            <a:ext cx="402336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658368" y="1536192"/>
            <a:ext cx="402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" y="193852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/>
          <p:nvPr/>
        </p:nvSpPr>
        <p:spPr>
          <a:xfrm>
            <a:off x="365760" y="2468880"/>
            <a:ext cx="9875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Habilitar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399032" y="2125980"/>
            <a:ext cx="73152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1472184" y="1463040"/>
            <a:ext cx="1078992" cy="13716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1810512" y="1536192"/>
            <a:ext cx="402336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1810512" y="1536192"/>
            <a:ext cx="402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5648" y="193852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9"/>
          <p:cNvSpPr/>
          <p:nvPr/>
        </p:nvSpPr>
        <p:spPr>
          <a:xfrm>
            <a:off x="1517904" y="2468880"/>
            <a:ext cx="9875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Criar ciclo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de avaliação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2551176" y="2125980"/>
            <a:ext cx="73152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2624328" y="1463040"/>
            <a:ext cx="1078992" cy="13716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2962656" y="1536192"/>
            <a:ext cx="402336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2962656" y="1536192"/>
            <a:ext cx="402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7792" y="193852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9"/>
          <p:cNvSpPr/>
          <p:nvPr/>
        </p:nvSpPr>
        <p:spPr>
          <a:xfrm>
            <a:off x="2670048" y="2468880"/>
            <a:ext cx="9875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Iniciar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ciclo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703320" y="2125980"/>
            <a:ext cx="73152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3776472" y="1463040"/>
            <a:ext cx="1078992" cy="13716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4114800" y="1536192"/>
            <a:ext cx="402336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114800" y="1536192"/>
            <a:ext cx="402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59936" y="193852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/>
          <p:nvPr/>
        </p:nvSpPr>
        <p:spPr>
          <a:xfrm>
            <a:off x="3822192" y="2468880"/>
            <a:ext cx="9875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Responder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medidas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855464" y="2125980"/>
            <a:ext cx="73152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928616" y="1463040"/>
            <a:ext cx="1078992" cy="13716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5266944" y="1536192"/>
            <a:ext cx="402336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5266944" y="1536192"/>
            <a:ext cx="402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7" name="Google Shape;26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2080" y="193852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9"/>
          <p:cNvSpPr/>
          <p:nvPr/>
        </p:nvSpPr>
        <p:spPr>
          <a:xfrm>
            <a:off x="4974336" y="2468880"/>
            <a:ext cx="9875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Encerrar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ciclo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007608" y="2125980"/>
            <a:ext cx="73152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6080760" y="1463040"/>
            <a:ext cx="1078992" cy="13716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6419088" y="1536192"/>
            <a:ext cx="402336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6419088" y="1536192"/>
            <a:ext cx="402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3" name="Google Shape;273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64224" y="193852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/>
          <p:nvPr/>
        </p:nvSpPr>
        <p:spPr>
          <a:xfrm>
            <a:off x="6126480" y="2468880"/>
            <a:ext cx="9875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Calcular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indicadores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7159752" y="2125980"/>
            <a:ext cx="73152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7232904" y="1463040"/>
            <a:ext cx="1078992" cy="13716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7571232" y="1536192"/>
            <a:ext cx="402336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7571232" y="1536192"/>
            <a:ext cx="402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9" name="Google Shape;279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16368" y="193852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9"/>
          <p:cNvSpPr/>
          <p:nvPr/>
        </p:nvSpPr>
        <p:spPr>
          <a:xfrm>
            <a:off x="7278624" y="2468880"/>
            <a:ext cx="9875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Plano 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57200" y="3063240"/>
            <a:ext cx="2715768" cy="15087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457200" y="3063240"/>
            <a:ext cx="2715768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548640" y="3127248"/>
            <a:ext cx="25328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Catálogo estruturado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48640" y="3474720"/>
            <a:ext cx="25328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Domínios, controles, medidas e opções de resposta com peso e sinalização de aplicabilidade.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3355848" y="3063240"/>
            <a:ext cx="2715768" cy="15087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3355848" y="3063240"/>
            <a:ext cx="2715768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3447288" y="3127248"/>
            <a:ext cx="25328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Ciclo de vida formal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3447288" y="3474720"/>
            <a:ext cx="25328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Estados: draft → in_progress → closed. Encerramento bloqueado se há pendências.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254496" y="3063240"/>
            <a:ext cx="2715768" cy="15087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6254496" y="3063240"/>
            <a:ext cx="2715768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6345936" y="3127248"/>
            <a:ext cx="25328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Isolamento multi-tenant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345936" y="3474720"/>
            <a:ext cx="25328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Habilitação por workspace. Cada organização opera com contexto completamente isolado.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Arquitetura e Implementação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8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57200" y="1261872"/>
            <a:ext cx="5029200" cy="86868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457200" y="1261872"/>
            <a:ext cx="164592" cy="8686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1463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0"/>
          <p:cNvSpPr/>
          <p:nvPr/>
        </p:nvSpPr>
        <p:spPr>
          <a:xfrm>
            <a:off x="1371600" y="135331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APRESENTAÇÃO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1371600" y="17190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React + Inertia.js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2423160" y="2130552"/>
            <a:ext cx="73152" cy="1554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457200" y="2286000"/>
            <a:ext cx="5029200" cy="86868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457200" y="2286000"/>
            <a:ext cx="164592" cy="86868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2487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0"/>
          <p:cNvSpPr/>
          <p:nvPr/>
        </p:nvSpPr>
        <p:spPr>
          <a:xfrm>
            <a:off x="1371600" y="23774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APLICAÇÃO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1371600" y="27432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Laravel API  /api/ppsi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2423160" y="3154680"/>
            <a:ext cx="73152" cy="1554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457200" y="3310128"/>
            <a:ext cx="5029200" cy="86868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457200" y="3310128"/>
            <a:ext cx="164592" cy="8686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808" y="351129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0"/>
          <p:cNvSpPr/>
          <p:nvPr/>
        </p:nvSpPr>
        <p:spPr>
          <a:xfrm>
            <a:off x="1371600" y="34015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PERSISTÊNCIA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1371600" y="376732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MySQL / PostgreSQL  •  ppsi_*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5760720" y="1261872"/>
            <a:ext cx="2926080" cy="77724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5897880" y="131673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5897880" y="1591056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draft → in_progress → closed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Bloqueio de encerramento com pendências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5760720" y="2148840"/>
            <a:ext cx="2926080" cy="77724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5897880" y="220370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Cálculo de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5897880" y="2478024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Σ(peso_resposta) / Σ(peso_total)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Normalizado 0–1 por domínio e global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5760720" y="3035808"/>
            <a:ext cx="2926080" cy="77724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5897880" y="30906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Geração de Plano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5897880" y="336499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Prioridade ∝ distância até implementação plena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Medidas sem resposta = prioridade máxima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5760720" y="3922776"/>
            <a:ext cx="2926080" cy="77724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5897880" y="39776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5897880" y="42519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Valida workspace e flag is_ppsi_enabled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Bloqueia rotas se módulo desabilitado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— Gestão de Ciclos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Criação, seleção e controle de estado dos ciclos de avaliação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9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475488" y="125272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676656" y="125272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877824" y="125272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1143000" y="1234440"/>
            <a:ext cx="6949440" cy="1645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1188720" y="1234440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localhost:3000/ppsi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11" title="Figura 1.png"/>
          <p:cNvPicPr preferRelativeResize="0"/>
          <p:nvPr/>
        </p:nvPicPr>
        <p:blipFill rotWithShape="1">
          <a:blip r:embed="rId3">
            <a:alphaModFix/>
          </a:blip>
          <a:srcRect b="23035" l="-550" r="549" t="0"/>
          <a:stretch/>
        </p:blipFill>
        <p:spPr>
          <a:xfrm>
            <a:off x="365760" y="1444752"/>
            <a:ext cx="8412480" cy="326440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1"/>
          <p:cNvSpPr/>
          <p:nvPr/>
        </p:nvSpPr>
        <p:spPr>
          <a:xfrm>
            <a:off x="484632" y="4782312"/>
            <a:ext cx="265176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484632" y="4782312"/>
            <a:ext cx="64008" cy="594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621792" y="483717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Múltiplos ciclos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621792" y="5056632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Histórico de avaliações por workspace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3246120" y="4782312"/>
            <a:ext cx="265176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3246120" y="4782312"/>
            <a:ext cx="64008" cy="59436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3383280" y="483717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Status controlado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3383280" y="5056632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draft / em andamento / encerrado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6007608" y="4782312"/>
            <a:ext cx="265176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6007608" y="4782312"/>
            <a:ext cx="64008" cy="594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6144768" y="483717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Ação contextual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6144768" y="5056632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Iniciar, usar ou encerrar com um clique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— Diagnóstico por Medidas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Resposta estruturada por domínio, controle e medida com filtros e contadores em tempo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10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475488" y="125272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676656" y="125272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877824" y="125272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1143000" y="1234440"/>
            <a:ext cx="6949440" cy="1645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1188720" y="1234440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localhost:3000/ppsi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12" title="Figura 4.png"/>
          <p:cNvPicPr preferRelativeResize="0"/>
          <p:nvPr/>
        </p:nvPicPr>
        <p:blipFill rotWithShape="1">
          <a:blip r:embed="rId3">
            <a:alphaModFix/>
          </a:blip>
          <a:srcRect b="23803" l="0" r="0" t="0"/>
          <a:stretch/>
        </p:blipFill>
        <p:spPr>
          <a:xfrm>
            <a:off x="402335" y="1481327"/>
            <a:ext cx="8412478" cy="3264409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2"/>
          <p:cNvSpPr/>
          <p:nvPr/>
        </p:nvSpPr>
        <p:spPr>
          <a:xfrm>
            <a:off x="402285" y="1417295"/>
            <a:ext cx="8412600" cy="3520500"/>
          </a:xfrm>
          <a:prstGeom prst="rect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3246120" y="4782312"/>
            <a:ext cx="265176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3246120" y="4782312"/>
            <a:ext cx="64008" cy="594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3383280" y="483717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Filtros por domínio/controle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3383280" y="5056632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Navegação estruturada por catálogo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6007608" y="4782312"/>
            <a:ext cx="265176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6007608" y="4782312"/>
            <a:ext cx="64008" cy="594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6144768" y="483717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Resposta + justificativa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6144768" y="5056632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Registro auditável por medida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— Relatório de Indicadores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Score global e por domínio calculado automaticamente ao encerrar o ciclo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11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475488" y="125272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676656" y="125272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877824" y="125272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1143000" y="1234440"/>
            <a:ext cx="6949440" cy="1645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1188720" y="1234440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localhost:3000/ppsi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13" title="Figura 5.png"/>
          <p:cNvPicPr preferRelativeResize="0"/>
          <p:nvPr/>
        </p:nvPicPr>
        <p:blipFill rotWithShape="1">
          <a:blip r:embed="rId3">
            <a:alphaModFix/>
          </a:blip>
          <a:srcRect b="21395" l="0" r="0" t="2407"/>
          <a:stretch/>
        </p:blipFill>
        <p:spPr>
          <a:xfrm>
            <a:off x="365760" y="1444752"/>
            <a:ext cx="8412482" cy="3264406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3"/>
          <p:cNvSpPr/>
          <p:nvPr/>
        </p:nvSpPr>
        <p:spPr>
          <a:xfrm>
            <a:off x="365710" y="1165820"/>
            <a:ext cx="8412600" cy="3520500"/>
          </a:xfrm>
          <a:prstGeom prst="rect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484632" y="4782312"/>
            <a:ext cx="265176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484632" y="4782312"/>
            <a:ext cx="64008" cy="594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621792" y="483717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Score global: 0.50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621792" y="5056632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Classificação automática: INTERMEDIATE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3246120" y="4782312"/>
            <a:ext cx="265176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3246120" y="4782312"/>
            <a:ext cx="64008" cy="59436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3383280" y="483717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Score por domínio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3383280" y="5056632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SEG 0.48 · PRV 0.51 · EST 0.58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6007608" y="4782312"/>
            <a:ext cx="265176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6007608" y="4782312"/>
            <a:ext cx="64008" cy="594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6144768" y="483717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Evolução por ciclos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6144768" y="5056632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Comparação temporal de maturidade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— Plano de Trabalho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187 ações geradas automaticamente a partir das lacunas do diagnóstico, priorizadas por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12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475488" y="125272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676656" y="125272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877824" y="125272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1143000" y="1234440"/>
            <a:ext cx="6949440" cy="1645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1188720" y="1234440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localhost:3000/ppsi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p14" title="Figura 3.png"/>
          <p:cNvPicPr preferRelativeResize="0"/>
          <p:nvPr/>
        </p:nvPicPr>
        <p:blipFill rotWithShape="1">
          <a:blip r:embed="rId3">
            <a:alphaModFix/>
          </a:blip>
          <a:srcRect b="23803" l="0" r="0" t="0"/>
          <a:stretch/>
        </p:blipFill>
        <p:spPr>
          <a:xfrm>
            <a:off x="365760" y="1444752"/>
            <a:ext cx="8412482" cy="3264406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4"/>
          <p:cNvSpPr/>
          <p:nvPr/>
        </p:nvSpPr>
        <p:spPr>
          <a:xfrm>
            <a:off x="365697" y="1110958"/>
            <a:ext cx="8412600" cy="3520500"/>
          </a:xfrm>
          <a:prstGeom prst="rect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484632" y="4782312"/>
            <a:ext cx="265176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484632" y="4782312"/>
            <a:ext cx="64008" cy="59436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621792" y="483717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Geração automática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621792" y="5056632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Prioridade ∝ distância da implementação plena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3246120" y="4782312"/>
            <a:ext cx="265176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3246120" y="4782312"/>
            <a:ext cx="64008" cy="594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3383280" y="483717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Filtros por status/domínio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3383280" y="5056632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Rastreabilidade por controle e medida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6007608" y="4782312"/>
            <a:ext cx="265176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6007608" y="4782312"/>
            <a:ext cx="64008" cy="59436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6144768" y="483717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Gestão de responsáveis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6144768" y="5056632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Status e prazo editáveis por ação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Prova de Conceito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Execução ponta a ponta do ciclo PPSI em ambiente funcional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13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457200" y="1261872"/>
            <a:ext cx="4023360" cy="566928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566928" y="1380744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5"/>
          <p:cNvSpPr/>
          <p:nvPr/>
        </p:nvSpPr>
        <p:spPr>
          <a:xfrm>
            <a:off x="566928" y="138074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1005840" y="1261872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Criação de ciclo em draft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457200" y="1920240"/>
            <a:ext cx="4023360" cy="566928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566928" y="2039112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566928" y="203911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1005840" y="1920240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Início e data de início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457200" y="2578608"/>
            <a:ext cx="4023360" cy="566928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566928" y="2697480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566928" y="26974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1005840" y="2578608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Resposta das medidas por domínio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457200" y="3236976"/>
            <a:ext cx="4023360" cy="566928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566928" y="3355848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566928" y="335584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1005840" y="3236976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Tentativa de encerramento c/ e s/ pendências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4754880" y="1261872"/>
            <a:ext cx="4023360" cy="566928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4864608" y="1380744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4864608" y="138074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5303520" y="1261872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Cálculo de indicadores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4754880" y="1920240"/>
            <a:ext cx="4023360" cy="566928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4864608" y="2039112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4864608" y="203911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5303520" y="1920240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Geração automática do plano de trabalho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4754880" y="2578608"/>
            <a:ext cx="4023360" cy="566928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4864608" y="2697480"/>
            <a:ext cx="320040" cy="320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4864608" y="26974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5303520" y="2578608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Atualização manual de status e responsáveis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457200" y="4160520"/>
            <a:ext cx="164592" cy="59436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731520" y="41788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Ameaças à Validade reconhecidas: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731520" y="441655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(i) workspace único  •  (ii) ciclo único  •  (iii) sem usuários externos  •  (iv) sem comparação antes/depois com planilha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Score global e por domínio — Ciclo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14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457200" y="1234440"/>
            <a:ext cx="2560320" cy="256032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6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Score Global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457200" y="178308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0.50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640080" y="2743200"/>
            <a:ext cx="2194560" cy="347472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6"/>
          <p:cNvSpPr/>
          <p:nvPr/>
        </p:nvSpPr>
        <p:spPr>
          <a:xfrm>
            <a:off x="640080" y="274320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INTERMEDIATE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457200" y="32004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Calculado em 23/02/2026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3291840" y="1234440"/>
            <a:ext cx="5394960" cy="80467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3429000" y="13075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Segurança da Informação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3429000" y="1645920"/>
            <a:ext cx="3657600" cy="18288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3429000" y="1645920"/>
            <a:ext cx="1755648" cy="1828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7178040" y="16184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0.48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7699248" y="1581912"/>
            <a:ext cx="914400" cy="32004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6"/>
          <p:cNvSpPr/>
          <p:nvPr/>
        </p:nvSpPr>
        <p:spPr>
          <a:xfrm>
            <a:off x="7699248" y="158191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BASIC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3291840" y="2148840"/>
            <a:ext cx="5394960" cy="80467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6"/>
          <p:cNvSpPr/>
          <p:nvPr/>
        </p:nvSpPr>
        <p:spPr>
          <a:xfrm>
            <a:off x="3429000" y="22219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Privacidade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3429000" y="2560320"/>
            <a:ext cx="3657600" cy="18288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6"/>
          <p:cNvSpPr/>
          <p:nvPr/>
        </p:nvSpPr>
        <p:spPr>
          <a:xfrm>
            <a:off x="3429000" y="2560320"/>
            <a:ext cx="1865376" cy="18288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6"/>
          <p:cNvSpPr/>
          <p:nvPr/>
        </p:nvSpPr>
        <p:spPr>
          <a:xfrm>
            <a:off x="7178040" y="25328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0.51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7699248" y="2496312"/>
            <a:ext cx="914400" cy="32004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6"/>
          <p:cNvSpPr/>
          <p:nvPr/>
        </p:nvSpPr>
        <p:spPr>
          <a:xfrm>
            <a:off x="7699248" y="249631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INTERMEDIATE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3291840" y="3063240"/>
            <a:ext cx="5394960" cy="804672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6"/>
          <p:cNvSpPr/>
          <p:nvPr/>
        </p:nvSpPr>
        <p:spPr>
          <a:xfrm>
            <a:off x="3429000" y="31363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Estrutura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3429000" y="3474720"/>
            <a:ext cx="3657600" cy="18288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6"/>
          <p:cNvSpPr/>
          <p:nvPr/>
        </p:nvSpPr>
        <p:spPr>
          <a:xfrm>
            <a:off x="3429000" y="3474720"/>
            <a:ext cx="2121408" cy="1828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6"/>
          <p:cNvSpPr/>
          <p:nvPr/>
        </p:nvSpPr>
        <p:spPr>
          <a:xfrm>
            <a:off x="7178040" y="34472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0.58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7699248" y="3410712"/>
            <a:ext cx="914400" cy="32004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6"/>
          <p:cNvSpPr/>
          <p:nvPr/>
        </p:nvSpPr>
        <p:spPr>
          <a:xfrm>
            <a:off x="7699248" y="341071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INTERMEDIATE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3291840" y="4160520"/>
            <a:ext cx="539496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6"/>
          <p:cNvSpPr/>
          <p:nvPr/>
        </p:nvSpPr>
        <p:spPr>
          <a:xfrm>
            <a:off x="3429000" y="418795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Escala: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4160520" y="4224528"/>
            <a:ext cx="777240" cy="18288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6"/>
          <p:cNvSpPr/>
          <p:nvPr/>
        </p:nvSpPr>
        <p:spPr>
          <a:xfrm>
            <a:off x="4160520" y="422452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INITIAL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6"/>
          <p:cNvSpPr/>
          <p:nvPr/>
        </p:nvSpPr>
        <p:spPr>
          <a:xfrm>
            <a:off x="4160520" y="4416552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&lt;0.30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5074920" y="4224528"/>
            <a:ext cx="777240" cy="18288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6"/>
          <p:cNvSpPr/>
          <p:nvPr/>
        </p:nvSpPr>
        <p:spPr>
          <a:xfrm>
            <a:off x="5074920" y="422452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BASIC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5074920" y="4416552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0.30–0.49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6"/>
          <p:cNvSpPr/>
          <p:nvPr/>
        </p:nvSpPr>
        <p:spPr>
          <a:xfrm>
            <a:off x="5989320" y="4224528"/>
            <a:ext cx="777240" cy="1828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6"/>
          <p:cNvSpPr/>
          <p:nvPr/>
        </p:nvSpPr>
        <p:spPr>
          <a:xfrm>
            <a:off x="5989320" y="422452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INTERM.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6"/>
          <p:cNvSpPr/>
          <p:nvPr/>
        </p:nvSpPr>
        <p:spPr>
          <a:xfrm>
            <a:off x="5989320" y="4416552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0.50–0.69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6"/>
          <p:cNvSpPr/>
          <p:nvPr/>
        </p:nvSpPr>
        <p:spPr>
          <a:xfrm>
            <a:off x="6903720" y="4224528"/>
            <a:ext cx="777240" cy="18288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6"/>
          <p:cNvSpPr/>
          <p:nvPr/>
        </p:nvSpPr>
        <p:spPr>
          <a:xfrm>
            <a:off x="6903720" y="422452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IMPROV.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6"/>
          <p:cNvSpPr/>
          <p:nvPr/>
        </p:nvSpPr>
        <p:spPr>
          <a:xfrm>
            <a:off x="6903720" y="4416552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0.70–0.89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7818120" y="4224528"/>
            <a:ext cx="777240" cy="182880"/>
          </a:xfrm>
          <a:prstGeom prst="rect">
            <a:avLst/>
          </a:prstGeom>
          <a:solidFill>
            <a:srgbClr val="A8DADC"/>
          </a:solidFill>
          <a:ln cap="flat" cmpd="sng" w="12700">
            <a:solidFill>
              <a:srgbClr val="A8DA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6"/>
          <p:cNvSpPr/>
          <p:nvPr/>
        </p:nvSpPr>
        <p:spPr>
          <a:xfrm>
            <a:off x="7818120" y="422452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ADV.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7818120" y="4416552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≥0.90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7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Contribuições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7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7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15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457200" y="1261872"/>
            <a:ext cx="2651760" cy="22860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7"/>
          <p:cNvSpPr/>
          <p:nvPr/>
        </p:nvSpPr>
        <p:spPr>
          <a:xfrm>
            <a:off x="457200" y="1261872"/>
            <a:ext cx="265176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9" name="Google Shape;5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0" y="14173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17"/>
          <p:cNvSpPr/>
          <p:nvPr/>
        </p:nvSpPr>
        <p:spPr>
          <a:xfrm>
            <a:off x="566928" y="2148840"/>
            <a:ext cx="24323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Contribuição Prática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914400" y="2578608"/>
            <a:ext cx="1737360" cy="36576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7"/>
          <p:cNvSpPr/>
          <p:nvPr/>
        </p:nvSpPr>
        <p:spPr>
          <a:xfrm>
            <a:off x="566928" y="2697480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Transforma a PPSI de artefato documental em processo operacional mensurável e gerenciável via software estruturado.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3291840" y="1261872"/>
            <a:ext cx="2651760" cy="22860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7"/>
          <p:cNvSpPr/>
          <p:nvPr/>
        </p:nvSpPr>
        <p:spPr>
          <a:xfrm>
            <a:off x="3291840" y="1261872"/>
            <a:ext cx="265176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5" name="Google Shape;5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4173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17"/>
          <p:cNvSpPr/>
          <p:nvPr/>
        </p:nvSpPr>
        <p:spPr>
          <a:xfrm>
            <a:off x="3401568" y="2148840"/>
            <a:ext cx="24323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Contribuição Técnica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3749040" y="2578608"/>
            <a:ext cx="1737360" cy="36576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7"/>
          <p:cNvSpPr/>
          <p:nvPr/>
        </p:nvSpPr>
        <p:spPr>
          <a:xfrm>
            <a:off x="3401568" y="2697480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Integração ponta a ponta: diagnóstico, ciclo de vida, score normalizado e plano de ação automático em módulo multi-tenant.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7"/>
          <p:cNvSpPr/>
          <p:nvPr/>
        </p:nvSpPr>
        <p:spPr>
          <a:xfrm>
            <a:off x="6126480" y="1261872"/>
            <a:ext cx="2651760" cy="228600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7"/>
          <p:cNvSpPr/>
          <p:nvPr/>
        </p:nvSpPr>
        <p:spPr>
          <a:xfrm>
            <a:off x="6126480" y="1261872"/>
            <a:ext cx="265176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1" name="Google Shape;58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320" y="14173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7"/>
          <p:cNvSpPr/>
          <p:nvPr/>
        </p:nvSpPr>
        <p:spPr>
          <a:xfrm>
            <a:off x="6236208" y="2148840"/>
            <a:ext cx="24323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Contribuição Acadêmica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6583680" y="2578608"/>
            <a:ext cx="1737360" cy="36576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7"/>
          <p:cNvSpPr/>
          <p:nvPr/>
        </p:nvSpPr>
        <p:spPr>
          <a:xfrm>
            <a:off x="6236208" y="2697480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Demonstra aplicação prática de governança de SI, modelagem de domínio e arquitetura em camadas em ambiente real.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7"/>
          <p:cNvSpPr/>
          <p:nvPr/>
        </p:nvSpPr>
        <p:spPr>
          <a:xfrm>
            <a:off x="457200" y="3730752"/>
            <a:ext cx="8229600" cy="100584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7"/>
          <p:cNvSpPr/>
          <p:nvPr/>
        </p:nvSpPr>
        <p:spPr>
          <a:xfrm>
            <a:off x="457200" y="3730752"/>
            <a:ext cx="164592" cy="100584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7"/>
          <p:cNvSpPr/>
          <p:nvPr/>
        </p:nvSpPr>
        <p:spPr>
          <a:xfrm>
            <a:off x="749808" y="37490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Planilha  →  Sistema Estruturado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7"/>
          <p:cNvSpPr/>
          <p:nvPr/>
        </p:nvSpPr>
        <p:spPr>
          <a:xfrm>
            <a:off x="749808" y="41148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✓ Controle formal de ciclo de vida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7"/>
          <p:cNvSpPr/>
          <p:nvPr/>
        </p:nvSpPr>
        <p:spPr>
          <a:xfrm>
            <a:off x="2807208" y="41148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✓ Validações automáticas de consistência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4864608" y="41148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✓ Cálculo imediato de indicadores normalizados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7"/>
          <p:cNvSpPr/>
          <p:nvPr/>
        </p:nvSpPr>
        <p:spPr>
          <a:xfrm>
            <a:off x="6922008" y="41148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✓ Geração estruturada de planos de 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8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Limitações e Trabalhos Futuros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1A335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040"/>
          </a:solidFill>
          <a:ln cap="flat" cmpd="sng" w="12700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8"/>
          <p:cNvSpPr/>
          <p:nvPr/>
        </p:nvSpPr>
        <p:spPr>
          <a:xfrm>
            <a:off x="365760" y="4992624"/>
            <a:ext cx="6400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IFPE Campus Recife  •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/>
          <p:nvPr/>
        </p:nvSpPr>
        <p:spPr>
          <a:xfrm>
            <a:off x="7772400" y="4992624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5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16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457200" y="1261872"/>
            <a:ext cx="3931920" cy="347472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8"/>
          <p:cNvSpPr/>
          <p:nvPr/>
        </p:nvSpPr>
        <p:spPr>
          <a:xfrm>
            <a:off x="457200" y="1261872"/>
            <a:ext cx="3931920" cy="347472"/>
          </a:xfrm>
          <a:prstGeom prst="rect">
            <a:avLst/>
          </a:prstGeom>
          <a:solidFill>
            <a:srgbClr val="C1440E"/>
          </a:solidFill>
          <a:ln cap="flat" cmpd="sng" w="12700">
            <a:solidFill>
              <a:srgbClr val="C144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8"/>
          <p:cNvSpPr/>
          <p:nvPr/>
        </p:nvSpPr>
        <p:spPr>
          <a:xfrm>
            <a:off x="457200" y="126187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Limitações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8"/>
          <p:cNvSpPr/>
          <p:nvPr/>
        </p:nvSpPr>
        <p:spPr>
          <a:xfrm>
            <a:off x="594360" y="1719072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Escala de maturidade heurística — limiares requerem validação empírica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594360" y="22860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Ausência de testes unitários/integração para regras críticas (score, transições)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8"/>
          <p:cNvSpPr/>
          <p:nvPr/>
        </p:nvSpPr>
        <p:spPr>
          <a:xfrm>
            <a:off x="594360" y="285292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Validação em cenário único — workspace e ciclo únicos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594360" y="3419856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Sem comparação experimental com abordagens alternativas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/>
          <p:nvPr/>
        </p:nvSpPr>
        <p:spPr>
          <a:xfrm>
            <a:off x="594360" y="3986784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Metodologia prioriza implementação funcional, sem métricas estatísticas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4754880" y="1261872"/>
            <a:ext cx="3931920" cy="347472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8"/>
          <p:cNvSpPr/>
          <p:nvPr/>
        </p:nvSpPr>
        <p:spPr>
          <a:xfrm>
            <a:off x="4754880" y="1261872"/>
            <a:ext cx="3931920" cy="347472"/>
          </a:xfrm>
          <a:prstGeom prst="rect">
            <a:avLst/>
          </a:prstGeom>
          <a:solidFill>
            <a:srgbClr val="0096B4"/>
          </a:solidFill>
          <a:ln cap="flat" cmpd="sng" w="12700">
            <a:solidFill>
              <a:srgbClr val="0096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8"/>
          <p:cNvSpPr/>
          <p:nvPr/>
        </p:nvSpPr>
        <p:spPr>
          <a:xfrm>
            <a:off x="4754880" y="126187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Trabalhos Futuros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4892040" y="1719072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Ampliar suíte de testes automatizados para regras de negócio críticas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4892040" y="2432304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Refinamento do OpenAPI para cobertura integral dos endpoints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4892040" y="3145536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Integração com fontes externas de evidências de controles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4892040" y="3858768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Aplicação em estudos de caso reais com múltiplos ciclos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9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6" name="Google Shape;6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0" y="54864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9"/>
          <p:cNvSpPr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9"/>
          <p:cNvSpPr/>
          <p:nvPr/>
        </p:nvSpPr>
        <p:spPr>
          <a:xfrm>
            <a:off x="457200" y="82296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solução transforma a PPSI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artefato documental 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processo operacional mensurável.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9"/>
          <p:cNvSpPr/>
          <p:nvPr/>
        </p:nvSpPr>
        <p:spPr>
          <a:xfrm>
            <a:off x="457200" y="2286000"/>
            <a:ext cx="41148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9"/>
          <p:cNvSpPr/>
          <p:nvPr/>
        </p:nvSpPr>
        <p:spPr>
          <a:xfrm>
            <a:off x="457200" y="245059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Ciclo estruturado com estados controlados e validações automáticas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9"/>
          <p:cNvSpPr/>
          <p:nvPr/>
        </p:nvSpPr>
        <p:spPr>
          <a:xfrm>
            <a:off x="457200" y="286207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Score normalizado e classificação de maturidade por domínio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9"/>
          <p:cNvSpPr/>
          <p:nvPr/>
        </p:nvSpPr>
        <p:spPr>
          <a:xfrm>
            <a:off x="457200" y="327355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Plano de ação gerado automaticamente a partir das lacunas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9"/>
          <p:cNvSpPr/>
          <p:nvPr/>
        </p:nvSpPr>
        <p:spPr>
          <a:xfrm>
            <a:off x="457200" y="3685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Arquitetura multi-tenant pronta para múltiplas organizações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9"/>
          <p:cNvSpPr/>
          <p:nvPr/>
        </p:nvSpPr>
        <p:spPr>
          <a:xfrm>
            <a:off x="457200" y="4187952"/>
            <a:ext cx="8229600" cy="594360"/>
          </a:xfrm>
          <a:prstGeom prst="rect">
            <a:avLst/>
          </a:prstGeom>
          <a:solidFill>
            <a:srgbClr val="112235"/>
          </a:solidFill>
          <a:ln cap="flat" cmpd="sng" w="12700">
            <a:solidFill>
              <a:srgbClr val="1A33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9"/>
          <p:cNvSpPr/>
          <p:nvPr/>
        </p:nvSpPr>
        <p:spPr>
          <a:xfrm>
            <a:off x="640080" y="418795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Samuel Vitor Lopes de Souza  •  </a:t>
            </a:r>
            <a:r>
              <a:rPr b="0" i="0" lang="en-US" sz="11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samuelvitorprofissional@gmail.com  •  </a:t>
            </a:r>
            <a:r>
              <a:rPr b="0" i="0" lang="en-US" sz="1100" u="none" cap="none" strike="noStrike">
                <a:solidFill>
                  <a:srgbClr val="7FB5C8"/>
                </a:solidFill>
                <a:latin typeface="Calibri"/>
                <a:ea typeface="Calibri"/>
                <a:cs typeface="Calibri"/>
                <a:sym typeface="Calibri"/>
              </a:rPr>
              <a:t>IFPE Campus Recife  •  ADS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